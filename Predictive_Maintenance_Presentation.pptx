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</a:defRPr>
            </a:pPr>
            <a:r>
              <a:t>Predictive Maintenance for</a:t>
            </a:r>
            <a:br/>
            <a:r>
              <a:t>Industrial Robotic 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EC0"/>
                </a:solidFill>
              </a:defRPr>
            </a:pPr>
            <a:r>
              <a:t>Comparative Analysis of ML Models Using the CWRU Bearing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840480"/>
            <a:ext cx="3657600" cy="36576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</a:defRPr>
            </a:pPr>
            <a:r>
              <a:t>Course Project - Machine Learning for Robotics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</a:defRPr>
            </a:pPr>
            <a:r>
              <a:t>Shaheer Zafar  |  Member 2  |  Member 3  |  Member 4  |  Member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464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15-Minute Presentation Outline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30352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1.  Problem Statement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2.  Dataset &amp; Preprocessing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3.  Exploratory Data Analysis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4.  Classification Models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     - KNN, SVM, Decision Tree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5.  Polynomial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6.   K-Means Clustering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7.   Q-Learning (Reinforcement)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8.   Ensemble Learning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9.   Comparative Analysis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10. Robotics Suitability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11. Live Demo &amp;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Why Predictive Maintenance?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68580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Bearing failures cause ~40-50% of all rotating machinery downtime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Unplanned downtime costs manufacturing $50B+/year globally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Reactive maintenance: Fix AFTER failure (costly, dangerous)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Preventive maintenance: Fix ON SCHEDULE (wasteful)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Predictive maintenance: Fix BEFORE failure (optimal)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554480"/>
            <a:ext cx="3931920" cy="4572000"/>
          </a:xfrm>
          <a:prstGeom prst="roundRect">
            <a:avLst/>
          </a:prstGeom>
          <a:solidFill>
            <a:srgbClr val="0D4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ECC71"/>
                </a:solidFill>
              </a:defRPr>
            </a:pPr>
            <a:r>
              <a:t>OUR GOALS:</a:t>
            </a:r>
          </a:p>
          <a:p>
            <a:pPr>
              <a:spcAft>
                <a:spcPts val="600"/>
              </a:spcAft>
              <a:defRPr sz="1500">
                <a:solidFill>
                  <a:srgbClr val="2ECC71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ECC71"/>
                </a:solidFill>
              </a:defRPr>
            </a:pPr>
            <a:r>
              <a:t>Classify bearing faults</a:t>
            </a:r>
          </a:p>
          <a:p>
            <a:pPr>
              <a:spcAft>
                <a:spcPts val="600"/>
              </a:spcAft>
              <a:defRPr sz="1500">
                <a:solidFill>
                  <a:srgbClr val="2ECC71"/>
                </a:solidFill>
              </a:defRPr>
            </a:pPr>
            <a:r>
              <a:t>(Normal/Ball/Inner/Outer)</a:t>
            </a:r>
          </a:p>
          <a:p>
            <a:pPr>
              <a:spcAft>
                <a:spcPts val="600"/>
              </a:spcAft>
              <a:defRPr sz="1500">
                <a:solidFill>
                  <a:srgbClr val="2ECC71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ECC71"/>
                </a:solidFill>
              </a:defRPr>
            </a:pPr>
            <a:r>
              <a:t>Predict fault severity</a:t>
            </a:r>
          </a:p>
          <a:p>
            <a:pPr>
              <a:spcAft>
                <a:spcPts val="600"/>
              </a:spcAft>
              <a:defRPr sz="1500">
                <a:solidFill>
                  <a:srgbClr val="2ECC71"/>
                </a:solidFill>
              </a:defRPr>
            </a:pPr>
            <a:r>
              <a:t>(0.007 / 0.014 / 0.021 in.)</a:t>
            </a:r>
          </a:p>
          <a:p>
            <a:pPr>
              <a:spcAft>
                <a:spcPts val="600"/>
              </a:spcAft>
              <a:defRPr sz="1500">
                <a:solidFill>
                  <a:srgbClr val="2ECC71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ECC71"/>
                </a:solidFill>
              </a:defRPr>
            </a:pPr>
            <a:r>
              <a:t>Automate maintenance</a:t>
            </a:r>
          </a:p>
          <a:p>
            <a:pPr>
              <a:spcAft>
                <a:spcPts val="600"/>
              </a:spcAft>
              <a:defRPr sz="1500">
                <a:solidFill>
                  <a:srgbClr val="2ECC71"/>
                </a:solidFill>
              </a:defRPr>
            </a:pPr>
            <a:r>
              <a:t>decisions via RL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2. Dataset - CWRU Bearing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Case Western Reserve University Bearing Data Center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685800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Source: CWRU Bearing Data Center (benchmark dataset)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Motor: 2-HP Reliance Electric with accelerometer sensors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Sampling Rate: 48,000 Hz | Window: 2,048 samples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Total Samples: 2,300 (perfectly balanced)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Fault Locations: Ball, Inner Race, Outer Race + Normal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Severity Levels: 0.007", 0.014", 0.021" diameter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9 Features: max, min, mean, sd, rms, skewness,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 kurtosis, crest factor, form factor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Zero missing values | 10 classes, grouped into 4</a:t>
            </a:r>
          </a:p>
        </p:txBody>
      </p:sp>
      <p:pic>
        <p:nvPicPr>
          <p:cNvPr id="8" name="Picture 7" descr="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54480"/>
            <a:ext cx="41148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3. Data Preprocessing &amp; Feature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94360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Data Cleaning: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No missing values, no duplicates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All features float64, label is string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Feature Engineering: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fault_type: 10 classes -&gt; 4 groups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severity: Numerical fault diameter (regression target)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Feature Scaling: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StandardScaler (zero mean, unit variance)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Fit on train only (no data leakage)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Train/Test Split: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- 80/20 stratified split (random_state=42)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Train: 1,840 | Test: 460 samples</a:t>
            </a:r>
          </a:p>
        </p:txBody>
      </p:sp>
      <p:pic>
        <p:nvPicPr>
          <p:cNvPr id="7" name="Picture 6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846320" cy="3634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4. 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Understanding data distribution and feature relationships</a:t>
            </a:r>
          </a:p>
        </p:txBody>
      </p:sp>
      <p:pic>
        <p:nvPicPr>
          <p:cNvPr id="6" name="Picture 5" descr="rm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486400" cy="3135086"/>
          </a:xfrm>
          <a:prstGeom prst="rect">
            <a:avLst/>
          </a:prstGeom>
        </p:spPr>
      </p:pic>
      <p:pic>
        <p:nvPicPr>
          <p:cNvPr id="7" name="Picture 6" descr="pca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63040"/>
            <a:ext cx="576072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69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RMS separates Normal vs Faulty clearly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669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PCA shows natural clustering of fault types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5.1 Classification - K-Nearest Neighbors (KNN)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02920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Non-parametric, instance-based learning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Classifies by majority vote of K neighbors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GridSearchCV (5-fold CV):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K: 1-20, Weights: uniform/distance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Metric: euclidean/manhattan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Best: K=3, distance, manhattan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Strength: Simple, effective for localized clusters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Weakness: O(n*d) prediction time</a:t>
            </a:r>
          </a:p>
        </p:txBody>
      </p:sp>
      <p:pic>
        <p:nvPicPr>
          <p:cNvPr id="7" name="Picture 6" descr="kn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3017520" cy="2385693"/>
          </a:xfrm>
          <a:prstGeom prst="rect">
            <a:avLst/>
          </a:prstGeom>
        </p:spPr>
      </p:pic>
      <p:pic>
        <p:nvPicPr>
          <p:cNvPr id="8" name="Picture 7" descr="knn_accuracy_vs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371600"/>
            <a:ext cx="3200400" cy="15741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5.2 Classification - Support Vector Machine (SVM)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94360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Finds optimal hyperplane with max margin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RBF kernel for non-linear boundaries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GridSearchCV (5-fold CV):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C: 0.1, 1, 10, 100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gamma: scale, auto, 0.01, 0.1, 1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Best: C=10, gamma=scale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Strength: Strong generalization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Weakness: Sensitive to scaling, slow on large data</a:t>
            </a:r>
          </a:p>
        </p:txBody>
      </p:sp>
      <p:pic>
        <p:nvPicPr>
          <p:cNvPr id="7" name="Picture 6" descr="svm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36146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5.3 Classification - Decision Tree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02920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Recursive partitioning with threshold rules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Most interpretable classifier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GridSearchCV (5-fold CV):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max_depth: 3-15, None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criterion: gini, entropy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Strength: Transparent, fast prediction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Weakness: Prone to overfitting</a:t>
            </a:r>
          </a:p>
        </p:txBody>
      </p:sp>
      <p:pic>
        <p:nvPicPr>
          <p:cNvPr id="7" name="Picture 6" descr="d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3017520" cy="1484227"/>
          </a:xfrm>
          <a:prstGeom prst="rect">
            <a:avLst/>
          </a:prstGeom>
        </p:spPr>
      </p:pic>
      <p:pic>
        <p:nvPicPr>
          <p:cNvPr id="8" name="Picture 7" descr="decision_tree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371600"/>
            <a:ext cx="3017520" cy="23856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5.4 Polynomial Regression - Severity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02920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Goal: Predict fault diameter from features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Compared degrees 1-4 (train on faulty only)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Degree 1: R2=0.2175  (underfits)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Degree 2: R2=0.7801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Degree 3: R2=0.8232  &lt;&lt; BEST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Degree 4: R2=-54.98  (overfits!)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Bias-Variance Tradeoff demonstrated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Best RMSE: 0.002394</a:t>
            </a:r>
          </a:p>
        </p:txBody>
      </p:sp>
      <p:pic>
        <p:nvPicPr>
          <p:cNvPr id="7" name="Picture 6" descr="regression_degre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2926080" cy="1804872"/>
          </a:xfrm>
          <a:prstGeom prst="rect">
            <a:avLst/>
          </a:prstGeom>
        </p:spPr>
      </p:pic>
      <p:pic>
        <p:nvPicPr>
          <p:cNvPr id="8" name="Picture 7" descr="regression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371600"/>
            <a:ext cx="3200400" cy="11377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5.5 K-Means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Unsupervised fault grouping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457200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Groups data without labels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Evaluated K=2 to 15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Metrics: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Elbow Method (Inertia)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Silhouette Score (higher = better)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- Davies-Bouldin Index (lower = better)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K=4 matches actual fault types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Enables anomaly detection on unlabeled data</a:t>
            </a:r>
          </a:p>
        </p:txBody>
      </p:sp>
      <p:pic>
        <p:nvPicPr>
          <p:cNvPr id="8" name="Picture 7" descr="kmeans_pca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583680" cy="19600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5.6 Q-Learning - Maintenance Decision Making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02920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Model-free reinforcement learning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States: Normal, Low, Medium, High Fault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Actions: Continue, Schedule, Emergency Stop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Training: 10,000 episodes x 50 steps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Alpha=0.1, Gamma=0.95, Epsilon decay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Learned Policy: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Normal -&gt; Continue Operating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Low/Medium -&gt; Schedule Maintenance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High Fault -&gt; Emergency Stop</a:t>
            </a:r>
          </a:p>
        </p:txBody>
      </p:sp>
      <p:pic>
        <p:nvPicPr>
          <p:cNvPr id="7" name="Picture 6" descr="qlearni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5943600" cy="19087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6. Ensemble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Combining models for better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657600" cy="2926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</a:defRPr>
            </a:pPr>
            <a:r>
              <a:t>Random Forest (Bagging)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Ensemble of Decision Trees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Bootstrap + random features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Reduces overfitting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GridSearchCV: n_est,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657600" cy="2926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9C12"/>
                </a:solidFill>
              </a:defRPr>
            </a:pPr>
            <a:r>
              <a:t>AdaBoost (Boosting)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9456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Sequential weak learners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Focus on misclassified samples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Base: DT (depth=2)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GridSearchCV: n_est, lr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657600" cy="2926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CC71"/>
                </a:solidFill>
              </a:defRPr>
            </a:pPr>
            <a:r>
              <a:t>Gradient Boosting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Fits trees to residual errors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Gradient descent optimization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Often highest accuracy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GridSearchCV: n_est, lr, depth</a:t>
            </a:r>
          </a:p>
        </p:txBody>
      </p:sp>
      <p:pic>
        <p:nvPicPr>
          <p:cNvPr id="15" name="Picture 14" descr="random_fore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663440"/>
            <a:ext cx="2743200" cy="2168812"/>
          </a:xfrm>
          <a:prstGeom prst="rect">
            <a:avLst/>
          </a:prstGeom>
        </p:spPr>
      </p:pic>
      <p:pic>
        <p:nvPicPr>
          <p:cNvPr id="16" name="Picture 15" descr="gradient_boosting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4663440"/>
            <a:ext cx="2743200" cy="21688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4754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Key Result: Ensemble methods improve accuracy</a:t>
            </a:r>
            <a:br/>
            <a:r>
              <a:t>by 1-3% over individual classifiers with</a:t>
            </a:r>
            <a:br/>
            <a:r>
              <a:t>lower variance and better generalization.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7. Comparative Analysis - Accuracy &amp; F1-Score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400800" cy="3157151"/>
          </a:xfrm>
          <a:prstGeom prst="rect">
            <a:avLst/>
          </a:prstGeom>
        </p:spPr>
      </p:pic>
      <p:pic>
        <p:nvPicPr>
          <p:cNvPr id="6" name="Picture 5" descr="Compar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5212080" cy="18911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7. Comparative Analysis - Stability &amp; Speed</a:t>
            </a:r>
          </a:p>
        </p:txBody>
      </p:sp>
      <p:pic>
        <p:nvPicPr>
          <p:cNvPr id="5" name="Picture 4" descr="cv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943600" cy="2928294"/>
          </a:xfrm>
          <a:prstGeom prst="rect">
            <a:avLst/>
          </a:prstGeom>
        </p:spPr>
      </p:pic>
      <p:pic>
        <p:nvPicPr>
          <p:cNvPr id="6" name="Picture 5" descr="training_tim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486400" cy="27022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7607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10-Fold CV: Ensemble methods show lower variance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5760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Gradient Boosting: highest accuracy, moderate speed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7. Computational Complexity &amp; Metrics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46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0046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Predict</a:t>
                      </a:r>
                    </a:p>
                  </a:txBody>
                  <a:tcPr>
                    <a:solidFill>
                      <a:srgbClr val="0046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0046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Strength</a:t>
                      </a:r>
                    </a:p>
                  </a:txBody>
                  <a:tcPr>
                    <a:solidFill>
                      <a:srgbClr val="00469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O(n*d)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Simple, no training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O(n^2*d)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O(sv*d)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Strong margins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O(n*d*logn)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O(logn)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Interpretable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O(T*n*d*logn)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O(T*logn)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Low variance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Gradient Boost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O(T*n*d)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O(T*logn)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Highest accuracy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Poly Regression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O(n*d^p)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O(d^p)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Severity prediction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K-Means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O(n*K*d*I)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O(K*d)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Anomaly detection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0AEC0"/>
                </a:solidFill>
              </a:defRPr>
            </a:pPr>
            <a:r>
              <a:t>Regression: Degree 3, R2=0.8232, RMSE=0.002394</a:t>
            </a:r>
          </a:p>
          <a:p>
            <a:pPr>
              <a:spcAft>
                <a:spcPts val="600"/>
              </a:spcAft>
              <a:defRPr sz="1300">
                <a:solidFill>
                  <a:srgbClr val="A0AEC0"/>
                </a:solidFill>
              </a:defRPr>
            </a:pPr>
            <a:r>
              <a:t>Clustering: Silhouette Score + Davies-Bouldin Index evaluated for K=2-15</a:t>
            </a:r>
          </a:p>
          <a:p>
            <a:pPr>
              <a:spcAft>
                <a:spcPts val="600"/>
              </a:spcAft>
              <a:defRPr sz="1300">
                <a:solidFill>
                  <a:srgbClr val="A0AEC0"/>
                </a:solidFill>
              </a:defRPr>
            </a:pPr>
            <a:r>
              <a:t>Q-Learning: Converged in ~2000 episodes, correct policy learned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8. Suitability for Robotics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743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2FF"/>
                </a:solidFill>
              </a:defRPr>
            </a:pPr>
            <a:r>
              <a:t>Real-Time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DT &amp; ensembles: fast prediction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KNN: bottleneck on large data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Sub-second detection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54480"/>
            <a:ext cx="2743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9C12"/>
                </a:solidFill>
              </a:defRPr>
            </a:pPr>
            <a:r>
              <a:t>Interpretability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7744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DT: human-readable rules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RF: feature importance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Critical for safety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2743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ECC71"/>
                </a:solidFill>
              </a:defRPr>
            </a:pPr>
            <a:r>
              <a:t>Adaptability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Q-Learning adapts online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No full retraining needed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Handles changing 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554480"/>
            <a:ext cx="2743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9B59B6"/>
                </a:solidFill>
              </a:defRPr>
            </a:pPr>
            <a:r>
              <a:t>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37744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Gradient Boosting: classifier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Poly Reg: severity tracker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Q-Learning: decision maker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9. Live Demo - Streamlit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streamlit run app.py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02920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Dashboard Features: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Interactive sensor input sliders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Real-time fault classification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Model selector (5 classifiers)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Bearing fault visualization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Polynomial regression analysis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Q-Learning decision matrix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All models comparison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554480"/>
            <a:ext cx="5760720" cy="4754880"/>
          </a:xfrm>
          <a:prstGeom prst="roundRect">
            <a:avLst/>
          </a:prstGeom>
          <a:solidFill>
            <a:srgbClr val="14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</a:defRPr>
            </a:pPr>
            <a:r>
              <a:t>LIVE DEMO</a:t>
            </a:r>
            <a:br/>
            <a:r>
              <a:t>streamlit run app.py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754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</a:defRPr>
            </a:pPr>
            <a:r>
              <a:t>http://localhost:8501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141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10.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Key Findings &amp;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4712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Classification: All 3 classifiers achieve strong accuracy; ensembles add 1-3% improvement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Regression: Polynomial degree 3 best (R2=0.8232), clear bias-variance tradeoff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Clustering: K-Means discovers natural fault groups without supervision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Q-Learning: Converges to correct maintenance policy (10K episodes)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Best Classifier: Gradient Boosting (highest accuracy + low variance)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Fastest Model: Decision Tree (O(log n) prediction, interpretable)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Real-World: Combined pipeline of GB + Poly Reg + Q-Learning recommended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Future Work: Deep learning on raw signals | Transfer learning | Edge deployment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383280"/>
            <a:ext cx="3657600" cy="36576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EC0"/>
                </a:solidFill>
              </a:defRPr>
            </a:pPr>
            <a:r>
              <a:t>Thank you for your attention!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05050"/>
                </a:solidFill>
              </a:defRPr>
            </a:pPr>
            <a:r>
              <a:t>Predictive Maintenance for Industrial Robotic Arms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5050"/>
                </a:solidFill>
              </a:defRPr>
            </a:pPr>
            <a:r>
              <a:t>Shaheer Zafar  |  Member 2  |  Member 3  |  Member 4  |  Member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